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177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08/07/2026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08/07/2026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08/07/2026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08/07/2026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08/07/2026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08/07/2026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08/07/2026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0"/>
            <a:ext cx="82296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rPr dirty="0"/>
              <a:t>HỆ THỐNG CV MATCHING</a:t>
            </a:r>
          </a:p>
          <a:p>
            <a:pPr algn="l">
              <a:defRPr sz="1800">
                <a:solidFill>
                  <a:srgbClr val="8B96BD"/>
                </a:solidFill>
                <a:latin typeface="Arial"/>
              </a:defRPr>
            </a:pPr>
            <a:r>
              <a:rPr dirty="0" err="1"/>
              <a:t>Báo</a:t>
            </a:r>
            <a:r>
              <a:rPr dirty="0"/>
              <a:t> </a:t>
            </a:r>
            <a:r>
              <a:rPr dirty="0" err="1"/>
              <a:t>Cáo</a:t>
            </a:r>
            <a:r>
              <a:rPr dirty="0"/>
              <a:t> </a:t>
            </a:r>
            <a:r>
              <a:rPr dirty="0" err="1"/>
              <a:t>Nghiên</a:t>
            </a:r>
            <a:r>
              <a:rPr dirty="0"/>
              <a:t> </a:t>
            </a:r>
            <a:r>
              <a:rPr dirty="0" err="1"/>
              <a:t>Cứu</a:t>
            </a:r>
            <a:r>
              <a:rPr dirty="0"/>
              <a:t> Khoa </a:t>
            </a:r>
            <a:r>
              <a:rPr dirty="0" err="1"/>
              <a:t>Học</a:t>
            </a:r>
            <a:r>
              <a:rPr dirty="0"/>
              <a:t> &amp; </a:t>
            </a:r>
            <a:r>
              <a:rPr dirty="0" err="1"/>
              <a:t>Triển</a:t>
            </a:r>
            <a:r>
              <a:rPr dirty="0"/>
              <a:t> </a:t>
            </a:r>
            <a:r>
              <a:rPr dirty="0" err="1"/>
              <a:t>Khai</a:t>
            </a:r>
            <a:br>
              <a:rPr dirty="0"/>
            </a:br>
            <a:r>
              <a:rPr dirty="0" err="1"/>
              <a:t>Thuật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 Hybrid Matching: BM25 + Cosine Similarity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Arial"/>
              </a:defRPr>
            </a:pPr>
            <a:r>
              <a:t>GIỚI THIỆU CHUNG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233B"/>
                </a:solidFill>
                <a:latin typeface="Arial"/>
              </a:defRPr>
            </a:pPr>
            <a:r>
              <a:t>Tổng quan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F2937"/>
                </a:solidFill>
                <a:latin typeface="Arial"/>
              </a:defRPr>
            </a:pPr>
            <a:r>
              <a:t>Mục tiêu của dự án:</a:t>
            </a:r>
          </a:p>
          <a:p>
            <a:pPr>
              <a:spcAft>
                <a:spcPts val="800"/>
              </a:spcAft>
              <a:defRPr sz="1500">
                <a:solidFill>
                  <a:srgbClr val="4B5563"/>
                </a:solidFill>
                <a:latin typeface="Arial"/>
              </a:defRPr>
            </a:pPr>
            <a:r>
              <a:t>• Tự động đánh giá mức độ phù hợp giữa CV của ứng viên và Mô tả công việc (JD).</a:t>
            </a:r>
          </a:p>
          <a:p>
            <a:pPr>
              <a:spcAft>
                <a:spcPts val="800"/>
              </a:spcAft>
              <a:defRPr sz="1500">
                <a:solidFill>
                  <a:srgbClr val="4B5563"/>
                </a:solidFill>
                <a:latin typeface="Arial"/>
              </a:defRPr>
            </a:pPr>
            <a:r>
              <a:t>• Cải thiện cấu trúc, từ khóa và nội dung CV để tối ưu hóa khả năng vượt qua hệ thống ATS.</a:t>
            </a:r>
          </a:p>
          <a:p>
            <a:pPr>
              <a:spcAft>
                <a:spcPts val="1200"/>
              </a:spcAft>
              <a:defRPr sz="1600" b="1">
                <a:solidFill>
                  <a:srgbClr val="1F2937"/>
                </a:solidFill>
                <a:latin typeface="Arial"/>
              </a:defRPr>
            </a:pPr>
            <a:r>
              <a:t>Kiến trúc kỹ thuật:</a:t>
            </a:r>
          </a:p>
          <a:p>
            <a:pPr>
              <a:spcAft>
                <a:spcPts val="800"/>
              </a:spcAft>
              <a:defRPr sz="1500">
                <a:solidFill>
                  <a:srgbClr val="4B5563"/>
                </a:solidFill>
                <a:latin typeface="Arial"/>
              </a:defRPr>
            </a:pPr>
            <a:r>
              <a:t>• Frontend: Next.js (React), TailwindCSS, TypeScript.</a:t>
            </a:r>
          </a:p>
          <a:p>
            <a:pPr>
              <a:spcAft>
                <a:spcPts val="800"/>
              </a:spcAft>
              <a:defRPr sz="1500">
                <a:solidFill>
                  <a:srgbClr val="4B5563"/>
                </a:solidFill>
                <a:latin typeface="Arial"/>
              </a:defRPr>
            </a:pPr>
            <a:r>
              <a:t>• Backend: Node.js (Express), MongoDB (lưu dữ liệu ứng viên &amp; job).</a:t>
            </a:r>
          </a:p>
          <a:p>
            <a:pPr>
              <a:spcAft>
                <a:spcPts val="800"/>
              </a:spcAft>
              <a:defRPr sz="1500">
                <a:solidFill>
                  <a:srgbClr val="4B5563"/>
                </a:solidFill>
                <a:latin typeface="Arial"/>
              </a:defRPr>
            </a:pPr>
            <a:r>
              <a:t>• Vector DB: Qdrant (lưu trữ vector nhúng của CV và JD).</a:t>
            </a:r>
          </a:p>
          <a:p>
            <a:pPr>
              <a:spcAft>
                <a:spcPts val="800"/>
              </a:spcAft>
              <a:defRPr sz="1500">
                <a:solidFill>
                  <a:srgbClr val="4B5563"/>
                </a:solidFill>
                <a:latin typeface="Arial"/>
              </a:defRPr>
            </a:pPr>
            <a:r>
              <a:t>• AI Worker: SBERT (Python) sinh embeddings &amp; LLM API (Gemini/OpenAI) sinh nội dung.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Arial"/>
              </a:defRPr>
            </a:pPr>
            <a:r>
              <a:t>TÍNH NĂNG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233B"/>
                </a:solidFill>
                <a:latin typeface="Arial"/>
              </a:defRPr>
            </a:pPr>
            <a:r>
              <a:t>Mô hình Prompt AI trong hệ thống (Cá nhân hóa)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F2937"/>
                </a:solidFill>
                <a:latin typeface="Arial"/>
              </a:defRPr>
            </a:pPr>
            <a:r>
              <a:t>1. Tailor Resume (Tối ưu hóa nội dung CV theo JD):</a:t>
            </a:r>
          </a:p>
          <a:p>
            <a:pPr>
              <a:spcAft>
                <a:spcPts val="800"/>
              </a:spcAft>
              <a:defRPr sz="1500">
                <a:solidFill>
                  <a:srgbClr val="4B5563"/>
                </a:solidFill>
                <a:latin typeface="Arial"/>
              </a:defRPr>
            </a:pPr>
            <a:r>
              <a:t>• Cấp độ Nudge: Tinh chỉnh nhỏ câu từ, giữ nguyên cấu trúc CV gốc.</a:t>
            </a:r>
          </a:p>
          <a:p>
            <a:pPr>
              <a:spcAft>
                <a:spcPts val="800"/>
              </a:spcAft>
              <a:defRPr sz="1500">
                <a:solidFill>
                  <a:srgbClr val="4B5563"/>
                </a:solidFill>
                <a:latin typeface="Arial"/>
              </a:defRPr>
            </a:pPr>
            <a:r>
              <a:t>• Cấp độ Keywords: Tập trung nhấn mạnh hoặc phân bổ lại từ khóa kỹ năng từ JD.</a:t>
            </a:r>
          </a:p>
          <a:p>
            <a:pPr>
              <a:spcAft>
                <a:spcPts val="800"/>
              </a:spcAft>
              <a:defRPr sz="1500">
                <a:solidFill>
                  <a:srgbClr val="4B5563"/>
                </a:solidFill>
                <a:latin typeface="Arial"/>
              </a:defRPr>
            </a:pPr>
            <a:r>
              <a:t>• Cấp độ Full rewrite: Viết lại các gạch đầu dòng kinh nghiệm để tạo độ thuyết phục cao nhất.</a:t>
            </a:r>
          </a:p>
          <a:p>
            <a:pPr>
              <a:spcAft>
                <a:spcPts val="1200"/>
              </a:spcAft>
              <a:defRPr sz="1600" b="1">
                <a:solidFill>
                  <a:srgbClr val="1F2937"/>
                </a:solidFill>
                <a:latin typeface="Arial"/>
              </a:defRPr>
            </a:pPr>
            <a:r>
              <a:t>2. Cover Letter &amp; Outreach Generator:</a:t>
            </a:r>
          </a:p>
          <a:p>
            <a:pPr>
              <a:spcAft>
                <a:spcPts val="800"/>
              </a:spcAft>
              <a:defRPr sz="1500">
                <a:solidFill>
                  <a:srgbClr val="4B5563"/>
                </a:solidFill>
                <a:latin typeface="Arial"/>
              </a:defRPr>
            </a:pPr>
            <a:r>
              <a:t>• Thư xin việc (Cover Letter): Sinh thư xin việc 3-4 đoạn dựa trên dữ liệu CV thật.</a:t>
            </a:r>
          </a:p>
          <a:p>
            <a:pPr>
              <a:spcAft>
                <a:spcPts val="800"/>
              </a:spcAft>
              <a:defRPr sz="1500">
                <a:solidFill>
                  <a:srgbClr val="4B5563"/>
                </a:solidFill>
                <a:latin typeface="Arial"/>
              </a:defRPr>
            </a:pPr>
            <a:r>
              <a:t>• Tin nhắn Outreach: Viết mẫu thư ngắn LinkedIn (&lt;150 từ) để kết nối trực tiếp nhà tuyển dụng.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Arial"/>
              </a:defRPr>
            </a:pPr>
            <a:r>
              <a:t>TÍNH NĂNG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233B"/>
                </a:solidFill>
                <a:latin typeface="Arial"/>
              </a:defRPr>
            </a:pPr>
            <a:r>
              <a:t>Mô hình Prompt AI trong hệ thống (Đánh giá &amp; Làm giàu)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F2937"/>
                </a:solidFill>
                <a:latin typeface="Arial"/>
              </a:defRPr>
            </a:pPr>
            <a:r>
              <a:t>3. Interview Preparation (Tạo bộ câu hỏi phỏng vấn):</a:t>
            </a:r>
          </a:p>
          <a:p>
            <a:pPr>
              <a:spcAft>
                <a:spcPts val="800"/>
              </a:spcAft>
              <a:defRPr sz="1500">
                <a:solidFill>
                  <a:srgbClr val="4B5563"/>
                </a:solidFill>
                <a:latin typeface="Arial"/>
              </a:defRPr>
            </a:pPr>
            <a:r>
              <a:t>• Sinh câu hỏi phân loại: Technical (Chuyên môn) và Behavioral (Hành vi/Soft Skills).</a:t>
            </a:r>
          </a:p>
          <a:p>
            <a:pPr>
              <a:spcAft>
                <a:spcPts val="800"/>
              </a:spcAft>
              <a:defRPr sz="1500">
                <a:solidFill>
                  <a:srgbClr val="4B5563"/>
                </a:solidFill>
                <a:latin typeface="Arial"/>
              </a:defRPr>
            </a:pPr>
            <a:r>
              <a:t>• Bám sát thực tế: Câu hỏi được tạo trực tiếp từ lỗ hổng kỹ năng trong CV và các yêu cầu trong JD.</a:t>
            </a:r>
          </a:p>
          <a:p>
            <a:pPr>
              <a:spcAft>
                <a:spcPts val="1200"/>
              </a:spcAft>
              <a:defRPr sz="1600" b="1">
                <a:solidFill>
                  <a:srgbClr val="1F2937"/>
                </a:solidFill>
                <a:latin typeface="Arial"/>
              </a:defRPr>
            </a:pPr>
            <a:r>
              <a:t>4. Resume Enrichment (Phân tích khoảng trống &amp; Làm giàu CV):</a:t>
            </a:r>
          </a:p>
          <a:p>
            <a:pPr>
              <a:spcAft>
                <a:spcPts val="800"/>
              </a:spcAft>
              <a:defRPr sz="1500">
                <a:solidFill>
                  <a:srgbClr val="4B5563"/>
                </a:solidFill>
                <a:latin typeface="Arial"/>
              </a:defRPr>
            </a:pPr>
            <a:r>
              <a:t>• Phân tích: AI phân tích và đưa ra câu hỏi gợi mở cho ứng viên bổ sung thông tin.</a:t>
            </a:r>
          </a:p>
          <a:p>
            <a:pPr>
              <a:spcAft>
                <a:spcPts val="800"/>
              </a:spcAft>
              <a:defRPr sz="1500">
                <a:solidFill>
                  <a:srgbClr val="4B5563"/>
                </a:solidFill>
                <a:latin typeface="Arial"/>
              </a:defRPr>
            </a:pPr>
            <a:r>
              <a:t>• Làm giàu: Kết hợp câu trả lời của ứng viên để nâng cấp dòng kinh nghiệm tự động.</a:t>
            </a:r>
          </a:p>
          <a:p>
            <a:pPr>
              <a:spcAft>
                <a:spcPts val="1200"/>
              </a:spcAft>
              <a:defRPr sz="1600" b="1">
                <a:solidFill>
                  <a:srgbClr val="1F2937"/>
                </a:solidFill>
                <a:latin typeface="Arial"/>
              </a:defRPr>
            </a:pPr>
            <a:r>
              <a:t>5. JD Keyword Extraction (AI trích xuất từ khóa sạch):</a:t>
            </a:r>
          </a:p>
          <a:p>
            <a:pPr>
              <a:spcAft>
                <a:spcPts val="800"/>
              </a:spcAft>
              <a:defRPr sz="1500">
                <a:solidFill>
                  <a:srgbClr val="4B5563"/>
                </a:solidFill>
                <a:latin typeface="Arial"/>
              </a:defRPr>
            </a:pPr>
            <a:r>
              <a:t>• Trích xuất chính xác các hard skills, tech stack, công cụ từ JD (loại bỏ từ rác tuyển dụng).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Arial"/>
              </a:defRPr>
            </a:pPr>
            <a:r>
              <a:t>THUẬT TOÁN CỐT LÕI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233B"/>
                </a:solidFill>
                <a:latin typeface="Arial"/>
              </a:defRPr>
            </a:pPr>
            <a:r>
              <a:t>Mô hình Hybrid Matching (Điểm số lai)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F2937"/>
                </a:solidFill>
                <a:latin typeface="Arial"/>
              </a:defRPr>
            </a:pPr>
            <a:r>
              <a:t>Độ phù hợp tổng quan (Hybrid Score) được tính dựa trên hai phương pháp bổ trợ nhau:</a:t>
            </a:r>
          </a:p>
          <a:p>
            <a:pPr>
              <a:spcAft>
                <a:spcPts val="1200"/>
              </a:spcAft>
              <a:defRPr sz="1600" b="0">
                <a:solidFill>
                  <a:srgbClr val="1F2937"/>
                </a:solidFill>
                <a:latin typeface="Arial"/>
              </a:defRPr>
            </a:pPr>
            <a:r>
              <a:t>Hybrid Score = 0.65 * Semantic Score + 0.35 * Keyword Score</a:t>
            </a:r>
          </a:p>
          <a:p>
            <a:pPr>
              <a:spcAft>
                <a:spcPts val="1200"/>
              </a:spcAft>
              <a:defRPr sz="1600" b="1">
                <a:solidFill>
                  <a:srgbClr val="1F2937"/>
                </a:solidFill>
                <a:latin typeface="Arial"/>
              </a:defRPr>
            </a:pPr>
            <a:r>
              <a:t>1. Điểm Ngữ nghĩa (Semantic Score - Trọng số 65%):</a:t>
            </a:r>
          </a:p>
          <a:p>
            <a:pPr>
              <a:spcAft>
                <a:spcPts val="800"/>
              </a:spcAft>
              <a:defRPr sz="1500">
                <a:solidFill>
                  <a:srgbClr val="4B5563"/>
                </a:solidFill>
                <a:latin typeface="Arial"/>
              </a:defRPr>
            </a:pPr>
            <a:r>
              <a:t>• Sử dụng mô hình SBERT mã hóa văn bản thành Vector 384 hoặc 768 chiều.</a:t>
            </a:r>
          </a:p>
          <a:p>
            <a:pPr>
              <a:spcAft>
                <a:spcPts val="800"/>
              </a:spcAft>
              <a:defRPr sz="1500">
                <a:solidFill>
                  <a:srgbClr val="4B5563"/>
                </a:solidFill>
                <a:latin typeface="Arial"/>
              </a:defRPr>
            </a:pPr>
            <a:r>
              <a:t>• Đo lường độ tương quan ngữ cảnh (Cosine Similarity) trong không gian Vector.</a:t>
            </a:r>
          </a:p>
          <a:p>
            <a:pPr>
              <a:spcAft>
                <a:spcPts val="800"/>
              </a:spcAft>
              <a:defRPr sz="1500">
                <a:solidFill>
                  <a:srgbClr val="4B5563"/>
                </a:solidFill>
                <a:latin typeface="Arial"/>
              </a:defRPr>
            </a:pPr>
            <a:r>
              <a:t>• Khắc phục điểm yếu của từ khóa tĩnh (hiểu được từ đồng nghĩa, ví dụ: 'API' và 'Backend').</a:t>
            </a:r>
          </a:p>
          <a:p>
            <a:pPr>
              <a:spcAft>
                <a:spcPts val="1200"/>
              </a:spcAft>
              <a:defRPr sz="1600" b="1">
                <a:solidFill>
                  <a:srgbClr val="1F2937"/>
                </a:solidFill>
                <a:latin typeface="Arial"/>
              </a:defRPr>
            </a:pPr>
            <a:r>
              <a:t>2. Điểm Từ khóa (Keyword Score - Trọng số 35%):</a:t>
            </a:r>
          </a:p>
          <a:p>
            <a:pPr>
              <a:spcAft>
                <a:spcPts val="800"/>
              </a:spcAft>
              <a:defRPr sz="1500">
                <a:solidFill>
                  <a:srgbClr val="4B5563"/>
                </a:solidFill>
                <a:latin typeface="Arial"/>
              </a:defRPr>
            </a:pPr>
            <a:r>
              <a:t>• Đo lường độ phủ của các từ khóa công nghệ chính xác dựa trên thuật toán Okapi BM25.</a:t>
            </a:r>
          </a:p>
          <a:p>
            <a:pPr>
              <a:spcAft>
                <a:spcPts val="800"/>
              </a:spcAft>
              <a:defRPr sz="1500">
                <a:solidFill>
                  <a:srgbClr val="4B5563"/>
                </a:solidFill>
                <a:latin typeface="Arial"/>
              </a:defRPr>
            </a:pPr>
            <a:r>
              <a:t>• Xếp hạng tầm quan trọng của từ khóa bằng tần suất nghịch đảo tài liệu (IDF).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Arial"/>
              </a:defRPr>
            </a:pPr>
            <a:r>
              <a:t>THUẬT TOÁN CỐT LÕI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233B"/>
                </a:solidFill>
                <a:latin typeface="Arial"/>
              </a:defRPr>
            </a:pPr>
            <a:r>
              <a:t>Thuật toán từ khóa Okapi BM25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F2937"/>
                </a:solidFill>
                <a:latin typeface="Arial"/>
              </a:defRPr>
            </a:pPr>
            <a:r>
              <a:t>Công thức tính điểm BM25 cho tài liệu CV (D) và tập từ khóa JD (Q):</a:t>
            </a:r>
          </a:p>
          <a:p>
            <a:pPr>
              <a:spcAft>
                <a:spcPts val="800"/>
              </a:spcAft>
              <a:defRPr sz="1500">
                <a:solidFill>
                  <a:srgbClr val="4B5563"/>
                </a:solidFill>
                <a:latin typeface="Arial"/>
              </a:defRPr>
            </a:pPr>
            <a:r>
              <a:t>• Score(D, Q) = Tổng[ IDF(q) * (f(q,D) * (k1 + 1)) / (f(q,D) + k1 * (1 - b + b * (|D| / avgdl))) ]</a:t>
            </a:r>
          </a:p>
          <a:p>
            <a:pPr>
              <a:spcAft>
                <a:spcPts val="1200"/>
              </a:spcAft>
              <a:defRPr sz="1600" b="1">
                <a:solidFill>
                  <a:srgbClr val="1F2937"/>
                </a:solidFill>
                <a:latin typeface="Arial"/>
              </a:defRPr>
            </a:pPr>
            <a:r>
              <a:t>Ý nghĩa các tham số trong công thức:</a:t>
            </a:r>
          </a:p>
          <a:p>
            <a:pPr>
              <a:spcAft>
                <a:spcPts val="800"/>
              </a:spcAft>
              <a:defRPr sz="1500">
                <a:solidFill>
                  <a:srgbClr val="4B5563"/>
                </a:solidFill>
                <a:latin typeface="Arial"/>
              </a:defRPr>
            </a:pPr>
            <a:r>
              <a:t>• f(q, D): Tần suất xuất hiện của từ khóa q trong CV D.</a:t>
            </a:r>
          </a:p>
          <a:p>
            <a:pPr>
              <a:spcAft>
                <a:spcPts val="800"/>
              </a:spcAft>
              <a:defRPr sz="1500">
                <a:solidFill>
                  <a:srgbClr val="4B5563"/>
                </a:solidFill>
                <a:latin typeface="Arial"/>
              </a:defRPr>
            </a:pPr>
            <a:r>
              <a:t>• |D| / avgdl: Tỉ lệ độ dài của CV hiện tại so với độ dài trung bình của tất cả CV.</a:t>
            </a:r>
          </a:p>
          <a:p>
            <a:pPr>
              <a:spcAft>
                <a:spcPts val="800"/>
              </a:spcAft>
              <a:defRPr sz="1500">
                <a:solidFill>
                  <a:srgbClr val="4B5563"/>
                </a:solidFill>
                <a:latin typeface="Arial"/>
              </a:defRPr>
            </a:pPr>
            <a:r>
              <a:t>• k1 (mặc định 1.2): Điều chỉnh giới hạn bão hòa của tần suất xuất hiện từ.</a:t>
            </a:r>
          </a:p>
          <a:p>
            <a:pPr>
              <a:spcAft>
                <a:spcPts val="800"/>
              </a:spcAft>
              <a:defRPr sz="1500">
                <a:solidFill>
                  <a:srgbClr val="4B5563"/>
                </a:solidFill>
                <a:latin typeface="Arial"/>
              </a:defRPr>
            </a:pPr>
            <a:r>
              <a:t>• b (mặc định 0.75): Tham số phạt độ dài (CV quá dài nhưng loãng sẽ bị giảm điểm).</a:t>
            </a:r>
          </a:p>
          <a:p>
            <a:pPr>
              <a:spcAft>
                <a:spcPts val="1200"/>
              </a:spcAft>
              <a:defRPr sz="1600" b="1">
                <a:solidFill>
                  <a:srgbClr val="1F2937"/>
                </a:solidFill>
                <a:latin typeface="Arial"/>
              </a:defRPr>
            </a:pPr>
            <a:r>
              <a:t>Công thức tính toán IDF (Inverse Document Frequency):</a:t>
            </a:r>
          </a:p>
          <a:p>
            <a:pPr>
              <a:spcAft>
                <a:spcPts val="800"/>
              </a:spcAft>
              <a:defRPr sz="1500">
                <a:solidFill>
                  <a:srgbClr val="4B5563"/>
                </a:solidFill>
                <a:latin typeface="Arial"/>
              </a:defRPr>
            </a:pPr>
            <a:r>
              <a:t>• IDF(q) = ln( 1 + (N - n(q) + 0.5) / (n(q) + 0.5) )</a:t>
            </a:r>
          </a:p>
          <a:p>
            <a:pPr>
              <a:spcAft>
                <a:spcPts val="800"/>
              </a:spcAft>
              <a:defRPr sz="1500">
                <a:solidFill>
                  <a:srgbClr val="4B5563"/>
                </a:solidFill>
                <a:latin typeface="Arial"/>
              </a:defRPr>
            </a:pPr>
            <a:r>
              <a:t>• N: Tổng số CV trong hệ thống | n(q): Số lượng CV chứa từ khóa q.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Arial"/>
              </a:defRPr>
            </a:pPr>
            <a:r>
              <a:t>THUẬT TOÁN CỐT LÕI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233B"/>
                </a:solidFill>
                <a:latin typeface="Arial"/>
              </a:defRPr>
            </a:pPr>
            <a:r>
              <a:t>Điểm ngữ nghĩa &amp; Độ tương đồng Cosine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F2937"/>
                </a:solidFill>
                <a:latin typeface="Arial"/>
              </a:defRPr>
            </a:pPr>
            <a:r>
              <a:t>Quy trình xử lý đối sánh ngữ nghĩa biểu diễn Vector:</a:t>
            </a:r>
          </a:p>
          <a:p>
            <a:pPr>
              <a:spcAft>
                <a:spcPts val="800"/>
              </a:spcAft>
              <a:defRPr sz="1500">
                <a:solidFill>
                  <a:srgbClr val="4B5563"/>
                </a:solidFill>
                <a:latin typeface="Arial"/>
              </a:defRPr>
            </a:pPr>
            <a:r>
              <a:t>• Bước 1: Trích xuất toàn bộ văn bản thô của CV và gộp các trường JD thành chuỗi ký tự.</a:t>
            </a:r>
          </a:p>
          <a:p>
            <a:pPr>
              <a:spcAft>
                <a:spcPts val="800"/>
              </a:spcAft>
              <a:defRPr sz="1500">
                <a:solidFill>
                  <a:srgbClr val="4B5563"/>
                </a:solidFill>
                <a:latin typeface="Arial"/>
              </a:defRPr>
            </a:pPr>
            <a:r>
              <a:t>• Bước 2: Sinh Vector Embedding cho CV và JD qua mô hình SBERT (Sentence-BERT).</a:t>
            </a:r>
          </a:p>
          <a:p>
            <a:pPr>
              <a:spcAft>
                <a:spcPts val="800"/>
              </a:spcAft>
              <a:defRPr sz="1500">
                <a:solidFill>
                  <a:srgbClr val="4B5563"/>
                </a:solidFill>
                <a:latin typeface="Arial"/>
              </a:defRPr>
            </a:pPr>
            <a:r>
              <a:t>• Bước 3: Tính Cosine Similarity giữa 2 vector biểu diễn trong không gian đa chiều.</a:t>
            </a:r>
          </a:p>
          <a:p>
            <a:pPr>
              <a:spcAft>
                <a:spcPts val="1200"/>
              </a:spcAft>
              <a:defRPr sz="1600" b="1">
                <a:solidFill>
                  <a:srgbClr val="1F2937"/>
                </a:solidFill>
                <a:latin typeface="Arial"/>
              </a:defRPr>
            </a:pPr>
            <a:r>
              <a:t>Công thức toán học Cosine Similarity:</a:t>
            </a:r>
          </a:p>
          <a:p>
            <a:pPr>
              <a:spcAft>
                <a:spcPts val="800"/>
              </a:spcAft>
              <a:defRPr sz="1500">
                <a:solidFill>
                  <a:srgbClr val="4B5563"/>
                </a:solidFill>
                <a:latin typeface="Arial"/>
              </a:defRPr>
            </a:pPr>
            <a:r>
              <a:t>• Cosine Similarity(A, B) = (A . B) / (||A|| * ||B||)</a:t>
            </a:r>
          </a:p>
          <a:p>
            <a:pPr>
              <a:spcAft>
                <a:spcPts val="800"/>
              </a:spcAft>
              <a:defRPr sz="1500">
                <a:solidFill>
                  <a:srgbClr val="4B5563"/>
                </a:solidFill>
                <a:latin typeface="Arial"/>
              </a:defRPr>
            </a:pPr>
            <a:r>
              <a:t>• Là tích vô hướng của hai vector chia cho tích độ dài hình học của chúng.</a:t>
            </a:r>
          </a:p>
          <a:p>
            <a:pPr>
              <a:spcAft>
                <a:spcPts val="800"/>
              </a:spcAft>
              <a:defRPr sz="1500">
                <a:solidFill>
                  <a:srgbClr val="4B5563"/>
                </a:solidFill>
                <a:latin typeface="Arial"/>
              </a:defRPr>
            </a:pPr>
            <a:r>
              <a:t>• Kết quả tiệm cận 1.0 (100%) khi góc giữa hai vector bằng 0 độ (hoàn toàn tương đồng về ngữ nghĩa).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Arial"/>
              </a:defRPr>
            </a:pPr>
            <a:r>
              <a:t>KỸ THUẬT XỬ LÝ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233B"/>
                </a:solidFill>
                <a:latin typeface="Arial"/>
              </a:defRPr>
            </a:pPr>
            <a:r>
              <a:t>Tiền xử lý văn bản &amp; Bộ lọc Stopwords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F2937"/>
                </a:solidFill>
                <a:latin typeface="Arial"/>
              </a:defRPr>
            </a:pPr>
            <a:r>
              <a:t>Quy trình xử lý thô văn bản trước khi đưa vào thuật toán:</a:t>
            </a:r>
          </a:p>
          <a:p>
            <a:pPr>
              <a:spcAft>
                <a:spcPts val="1200"/>
              </a:spcAft>
              <a:defRPr sz="1600" b="1">
                <a:solidFill>
                  <a:srgbClr val="1F2937"/>
                </a:solidFill>
                <a:latin typeface="Arial"/>
              </a:defRPr>
            </a:pPr>
            <a:r>
              <a:t>1. Tokenizer thông minh:</a:t>
            </a:r>
          </a:p>
          <a:p>
            <a:pPr>
              <a:spcAft>
                <a:spcPts val="800"/>
              </a:spcAft>
              <a:defRPr sz="1500">
                <a:solidFill>
                  <a:srgbClr val="4B5563"/>
                </a:solidFill>
                <a:latin typeface="Arial"/>
              </a:defRPr>
            </a:pPr>
            <a:r>
              <a:t>• Sử dụng biểu thức chính quy (Regex) Unicode tách từ.</a:t>
            </a:r>
          </a:p>
          <a:p>
            <a:pPr>
              <a:spcAft>
                <a:spcPts val="800"/>
              </a:spcAft>
              <a:defRPr sz="1500">
                <a:solidFill>
                  <a:srgbClr val="4B5563"/>
                </a:solidFill>
                <a:latin typeface="Arial"/>
              </a:defRPr>
            </a:pPr>
            <a:r>
              <a:t>• Giữ nguyên các ký tự kỹ thuật chuyên ngành như: C++, C#, .NET, Node.js.</a:t>
            </a:r>
          </a:p>
          <a:p>
            <a:pPr>
              <a:spcAft>
                <a:spcPts val="1200"/>
              </a:spcAft>
              <a:defRPr sz="1600" b="1">
                <a:solidFill>
                  <a:srgbClr val="1F2937"/>
                </a:solidFill>
                <a:latin typeface="Arial"/>
              </a:defRPr>
            </a:pPr>
            <a:r>
              <a:t>2. Lọc từ dừng (Stopwords):</a:t>
            </a:r>
          </a:p>
          <a:p>
            <a:pPr>
              <a:spcAft>
                <a:spcPts val="800"/>
              </a:spcAft>
              <a:defRPr sz="1500">
                <a:solidFill>
                  <a:srgbClr val="4B5563"/>
                </a:solidFill>
                <a:latin typeface="Arial"/>
              </a:defRPr>
            </a:pPr>
            <a:r>
              <a:t>• Lọc bỏ đại từ, giới từ tiếng Anh thông dụng (a, an, the, with, for...).</a:t>
            </a:r>
          </a:p>
          <a:p>
            <a:pPr>
              <a:spcAft>
                <a:spcPts val="800"/>
              </a:spcAft>
              <a:defRPr sz="1500">
                <a:solidFill>
                  <a:srgbClr val="4B5563"/>
                </a:solidFill>
                <a:latin typeface="Arial"/>
              </a:defRPr>
            </a:pPr>
            <a:r>
              <a:t>• Lọc bỏ từ rác tuyển dụng (salary, benefits, requirements, job, company...).</a:t>
            </a:r>
          </a:p>
          <a:p>
            <a:pPr>
              <a:spcAft>
                <a:spcPts val="1200"/>
              </a:spcAft>
              <a:defRPr sz="1600" b="1">
                <a:solidFill>
                  <a:srgbClr val="1F2937"/>
                </a:solidFill>
                <a:latin typeface="Arial"/>
              </a:defRPr>
            </a:pPr>
            <a:r>
              <a:t>3. AI Keyword Extraction (Mới nâng cấp):</a:t>
            </a:r>
          </a:p>
          <a:p>
            <a:pPr>
              <a:spcAft>
                <a:spcPts val="800"/>
              </a:spcAft>
              <a:defRPr sz="1500">
                <a:solidFill>
                  <a:srgbClr val="4B5563"/>
                </a:solidFill>
                <a:latin typeface="Arial"/>
              </a:defRPr>
            </a:pPr>
            <a:r>
              <a:t>• Sử dụng mô hình LLM trích xuất tự động danh sách kỹ năng chuyên môn sạch từ JD.</a:t>
            </a:r>
          </a:p>
          <a:p>
            <a:pPr>
              <a:spcAft>
                <a:spcPts val="800"/>
              </a:spcAft>
              <a:defRPr sz="1500">
                <a:solidFill>
                  <a:srgbClr val="4B5563"/>
                </a:solidFill>
                <a:latin typeface="Arial"/>
              </a:defRPr>
            </a:pPr>
            <a:r>
              <a:t>• Giới hạn 80 từ khóa quan trọng nhất, tối ưu điểm số BM25, triệt tiêu nhiễu phi kỹ thuật.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Arial"/>
              </a:defRPr>
            </a:pPr>
            <a:r>
              <a:t>TỔNG KẾT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233B"/>
                </a:solidFill>
                <a:latin typeface="Arial"/>
              </a:defRPr>
            </a:pPr>
            <a:r>
              <a:t>Tính khoa học &amp; Thực tiễn của đề tài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3380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F2937"/>
                </a:solidFill>
                <a:latin typeface="Arial"/>
              </a:defRPr>
            </a:pPr>
            <a:r>
              <a:rPr dirty="0" err="1"/>
              <a:t>Ưu</a:t>
            </a:r>
            <a:r>
              <a:rPr dirty="0"/>
              <a:t> </a:t>
            </a:r>
            <a:r>
              <a:rPr dirty="0" err="1"/>
              <a:t>điểm</a:t>
            </a:r>
            <a:r>
              <a:rPr dirty="0"/>
              <a:t> </a:t>
            </a:r>
            <a:r>
              <a:rPr dirty="0" err="1"/>
              <a:t>nổi</a:t>
            </a:r>
            <a:r>
              <a:rPr dirty="0"/>
              <a:t> </a:t>
            </a:r>
            <a:r>
              <a:rPr dirty="0" err="1"/>
              <a:t>bật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:</a:t>
            </a:r>
          </a:p>
          <a:p>
            <a:pPr>
              <a:spcAft>
                <a:spcPts val="800"/>
              </a:spcAft>
              <a:defRPr sz="1500">
                <a:solidFill>
                  <a:srgbClr val="4B5563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Phối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hài</a:t>
            </a:r>
            <a:r>
              <a:rPr dirty="0"/>
              <a:t> </a:t>
            </a:r>
            <a:r>
              <a:rPr dirty="0" err="1"/>
              <a:t>hòa</a:t>
            </a:r>
            <a:r>
              <a:rPr dirty="0"/>
              <a:t> </a:t>
            </a:r>
            <a:r>
              <a:rPr dirty="0" err="1"/>
              <a:t>giữa</a:t>
            </a:r>
            <a:r>
              <a:rPr dirty="0"/>
              <a:t> </a:t>
            </a:r>
            <a:r>
              <a:rPr dirty="0" err="1"/>
              <a:t>Khớp</a:t>
            </a:r>
            <a:r>
              <a:rPr dirty="0"/>
              <a:t> </a:t>
            </a:r>
            <a:r>
              <a:rPr dirty="0" err="1"/>
              <a:t>chính</a:t>
            </a:r>
            <a:r>
              <a:rPr dirty="0"/>
              <a:t> </a:t>
            </a:r>
            <a:r>
              <a:rPr dirty="0" err="1"/>
              <a:t>xác</a:t>
            </a:r>
            <a:r>
              <a:rPr dirty="0"/>
              <a:t> (Okapi BM25)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Khớp</a:t>
            </a:r>
            <a:r>
              <a:rPr dirty="0"/>
              <a:t> </a:t>
            </a:r>
            <a:r>
              <a:rPr dirty="0" err="1"/>
              <a:t>ngữ</a:t>
            </a:r>
            <a:r>
              <a:rPr dirty="0"/>
              <a:t> </a:t>
            </a:r>
            <a:r>
              <a:rPr dirty="0" err="1"/>
              <a:t>cảnh</a:t>
            </a:r>
            <a:r>
              <a:rPr dirty="0"/>
              <a:t> (Cosine Similarity).</a:t>
            </a:r>
          </a:p>
          <a:p>
            <a:pPr>
              <a:spcAft>
                <a:spcPts val="800"/>
              </a:spcAft>
              <a:defRPr sz="1500">
                <a:solidFill>
                  <a:srgbClr val="4B5563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Xử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thông</a:t>
            </a:r>
            <a:r>
              <a:rPr dirty="0"/>
              <a:t> tin </a:t>
            </a:r>
            <a:r>
              <a:rPr dirty="0" err="1"/>
              <a:t>hai</a:t>
            </a:r>
            <a:r>
              <a:rPr dirty="0"/>
              <a:t> </a:t>
            </a:r>
            <a:r>
              <a:rPr dirty="0" err="1"/>
              <a:t>chiều</a:t>
            </a:r>
            <a:r>
              <a:rPr dirty="0"/>
              <a:t>: </a:t>
            </a:r>
            <a:r>
              <a:rPr dirty="0" err="1"/>
              <a:t>Giúp</a:t>
            </a:r>
            <a:r>
              <a:rPr dirty="0"/>
              <a:t> </a:t>
            </a:r>
            <a:r>
              <a:rPr dirty="0" err="1"/>
              <a:t>ứng</a:t>
            </a:r>
            <a:r>
              <a:rPr dirty="0"/>
              <a:t> </a:t>
            </a:r>
            <a:r>
              <a:rPr dirty="0" err="1"/>
              <a:t>viên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tối</a:t>
            </a:r>
            <a:r>
              <a:rPr dirty="0"/>
              <a:t> </a:t>
            </a:r>
            <a:r>
              <a:rPr dirty="0" err="1"/>
              <a:t>ưu</a:t>
            </a:r>
            <a:r>
              <a:rPr dirty="0"/>
              <a:t> CV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giúp</a:t>
            </a:r>
            <a:r>
              <a:rPr dirty="0"/>
              <a:t> </a:t>
            </a:r>
            <a:r>
              <a:rPr dirty="0" err="1"/>
              <a:t>nhà</a:t>
            </a:r>
            <a:r>
              <a:rPr dirty="0"/>
              <a:t> </a:t>
            </a:r>
            <a:r>
              <a:rPr dirty="0" err="1"/>
              <a:t>tuyển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</a:t>
            </a:r>
            <a:r>
              <a:rPr dirty="0" err="1"/>
              <a:t>xếp</a:t>
            </a:r>
            <a:r>
              <a:rPr dirty="0"/>
              <a:t> </a:t>
            </a:r>
            <a:r>
              <a:rPr dirty="0" err="1"/>
              <a:t>hạng</a:t>
            </a:r>
            <a:r>
              <a:rPr dirty="0"/>
              <a:t> </a:t>
            </a:r>
            <a:r>
              <a:rPr dirty="0" err="1"/>
              <a:t>ứng</a:t>
            </a:r>
            <a:r>
              <a:rPr dirty="0"/>
              <a:t> </a:t>
            </a:r>
            <a:r>
              <a:rPr dirty="0" err="1"/>
              <a:t>viên</a:t>
            </a:r>
            <a:r>
              <a:rPr dirty="0"/>
              <a:t> </a:t>
            </a:r>
            <a:r>
              <a:rPr dirty="0" err="1"/>
              <a:t>nhanh</a:t>
            </a:r>
            <a:r>
              <a:rPr dirty="0"/>
              <a:t> </a:t>
            </a:r>
            <a:r>
              <a:rPr dirty="0" err="1"/>
              <a:t>chóng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500">
                <a:solidFill>
                  <a:srgbClr val="4B5563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Kiến</a:t>
            </a:r>
            <a:r>
              <a:rPr dirty="0"/>
              <a:t> </a:t>
            </a:r>
            <a:r>
              <a:rPr dirty="0" err="1"/>
              <a:t>trúc</a:t>
            </a:r>
            <a:r>
              <a:rPr dirty="0"/>
              <a:t> microservices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sử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Vector Database (</a:t>
            </a:r>
            <a:r>
              <a:rPr dirty="0" err="1"/>
              <a:t>Qdrant</a:t>
            </a:r>
            <a:r>
              <a:rPr dirty="0"/>
              <a:t>) </a:t>
            </a:r>
            <a:r>
              <a:rPr dirty="0" err="1"/>
              <a:t>đảm</a:t>
            </a:r>
            <a:r>
              <a:rPr dirty="0"/>
              <a:t> </a:t>
            </a:r>
            <a:r>
              <a:rPr dirty="0" err="1"/>
              <a:t>bảo</a:t>
            </a:r>
            <a:r>
              <a:rPr dirty="0"/>
              <a:t> </a:t>
            </a:r>
            <a:r>
              <a:rPr dirty="0" err="1"/>
              <a:t>hiệu</a:t>
            </a:r>
            <a:r>
              <a:rPr dirty="0"/>
              <a:t> </a:t>
            </a:r>
            <a:r>
              <a:rPr dirty="0" err="1"/>
              <a:t>năng</a:t>
            </a:r>
            <a:r>
              <a:rPr dirty="0"/>
              <a:t> </a:t>
            </a:r>
            <a:r>
              <a:rPr dirty="0" err="1"/>
              <a:t>cao</a:t>
            </a:r>
            <a:r>
              <a:rPr dirty="0"/>
              <a:t> </a:t>
            </a:r>
            <a:r>
              <a:rPr dirty="0" err="1"/>
              <a:t>khi</a:t>
            </a:r>
            <a:r>
              <a:rPr dirty="0"/>
              <a:t> </a:t>
            </a:r>
            <a:r>
              <a:rPr dirty="0" err="1"/>
              <a:t>mở</a:t>
            </a:r>
            <a:r>
              <a:rPr dirty="0"/>
              <a:t> </a:t>
            </a:r>
            <a:r>
              <a:rPr dirty="0" err="1"/>
              <a:t>rộng</a:t>
            </a:r>
            <a:r>
              <a:rPr dirty="0"/>
              <a:t>.</a:t>
            </a:r>
          </a:p>
          <a:p>
            <a:pPr>
              <a:spcAft>
                <a:spcPts val="1200"/>
              </a:spcAft>
              <a:defRPr sz="1600" b="1">
                <a:solidFill>
                  <a:srgbClr val="1F2937"/>
                </a:solidFill>
                <a:latin typeface="Arial"/>
              </a:defRPr>
            </a:pPr>
            <a:r>
              <a:rPr dirty="0" err="1"/>
              <a:t>Hướng</a:t>
            </a:r>
            <a:r>
              <a:rPr dirty="0"/>
              <a:t> </a:t>
            </a:r>
            <a:r>
              <a:rPr dirty="0" err="1"/>
              <a:t>phát</a:t>
            </a:r>
            <a:r>
              <a:rPr dirty="0"/>
              <a:t> </a:t>
            </a:r>
            <a:r>
              <a:rPr dirty="0" err="1"/>
              <a:t>triển</a:t>
            </a:r>
            <a:r>
              <a:rPr dirty="0"/>
              <a:t> </a:t>
            </a:r>
            <a:r>
              <a:rPr dirty="0" err="1"/>
              <a:t>tiếp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:</a:t>
            </a:r>
          </a:p>
          <a:p>
            <a:pPr>
              <a:spcAft>
                <a:spcPts val="800"/>
              </a:spcAft>
              <a:defRPr sz="1500">
                <a:solidFill>
                  <a:srgbClr val="4B5563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Thử</a:t>
            </a:r>
            <a:r>
              <a:rPr dirty="0"/>
              <a:t> </a:t>
            </a:r>
            <a:r>
              <a:rPr dirty="0" err="1"/>
              <a:t>nghiệm</a:t>
            </a:r>
            <a:r>
              <a:rPr dirty="0"/>
              <a:t>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Embedding </a:t>
            </a:r>
            <a:r>
              <a:rPr dirty="0" err="1"/>
              <a:t>tiếng</a:t>
            </a:r>
            <a:r>
              <a:rPr dirty="0"/>
              <a:t> </a:t>
            </a:r>
            <a:r>
              <a:rPr dirty="0" err="1"/>
              <a:t>Việt</a:t>
            </a:r>
            <a:r>
              <a:rPr dirty="0"/>
              <a:t> </a:t>
            </a:r>
            <a:r>
              <a:rPr dirty="0" err="1"/>
              <a:t>chuyên</a:t>
            </a:r>
            <a:r>
              <a:rPr dirty="0"/>
              <a:t> </a:t>
            </a:r>
            <a:r>
              <a:rPr dirty="0" err="1"/>
              <a:t>sâu</a:t>
            </a:r>
            <a:r>
              <a:rPr dirty="0"/>
              <a:t>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tối</a:t>
            </a:r>
            <a:r>
              <a:rPr dirty="0"/>
              <a:t> </a:t>
            </a:r>
            <a:r>
              <a:rPr dirty="0" err="1"/>
              <a:t>ưu</a:t>
            </a:r>
            <a:r>
              <a:rPr dirty="0"/>
              <a:t> </a:t>
            </a:r>
            <a:r>
              <a:rPr dirty="0" err="1"/>
              <a:t>hóa</a:t>
            </a:r>
            <a:r>
              <a:rPr dirty="0"/>
              <a:t> </a:t>
            </a:r>
            <a:r>
              <a:rPr dirty="0" err="1"/>
              <a:t>ngôn</a:t>
            </a:r>
            <a:r>
              <a:rPr dirty="0"/>
              <a:t> </a:t>
            </a:r>
            <a:r>
              <a:rPr dirty="0" err="1"/>
              <a:t>ngữ</a:t>
            </a:r>
            <a:r>
              <a:rPr dirty="0"/>
              <a:t> </a:t>
            </a:r>
            <a:r>
              <a:rPr dirty="0" err="1"/>
              <a:t>bản</a:t>
            </a:r>
            <a:r>
              <a:rPr dirty="0"/>
              <a:t> </a:t>
            </a:r>
            <a:r>
              <a:rPr dirty="0" err="1"/>
              <a:t>địa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500">
                <a:solidFill>
                  <a:srgbClr val="4B5563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Phát</a:t>
            </a:r>
            <a:r>
              <a:rPr dirty="0"/>
              <a:t> </a:t>
            </a:r>
            <a:r>
              <a:rPr dirty="0" err="1"/>
              <a:t>triển</a:t>
            </a:r>
            <a:r>
              <a:rPr dirty="0"/>
              <a:t> </a:t>
            </a:r>
            <a:r>
              <a:rPr dirty="0" err="1"/>
              <a:t>thêm</a:t>
            </a:r>
            <a:r>
              <a:rPr dirty="0"/>
              <a:t> </a:t>
            </a:r>
            <a:r>
              <a:rPr dirty="0" err="1"/>
              <a:t>thuật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 </a:t>
            </a:r>
            <a:r>
              <a:rPr dirty="0" err="1"/>
              <a:t>phát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ngăn</a:t>
            </a:r>
            <a:r>
              <a:rPr dirty="0"/>
              <a:t> </a:t>
            </a:r>
            <a:r>
              <a:rPr dirty="0" err="1"/>
              <a:t>chặn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tượng</a:t>
            </a:r>
            <a:r>
              <a:rPr dirty="0"/>
              <a:t> </a:t>
            </a:r>
            <a:r>
              <a:rPr dirty="0" err="1"/>
              <a:t>nhồi</a:t>
            </a:r>
            <a:r>
              <a:rPr dirty="0"/>
              <a:t> </a:t>
            </a:r>
            <a:r>
              <a:rPr dirty="0" err="1"/>
              <a:t>nhét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khóa</a:t>
            </a:r>
            <a:r>
              <a:rPr dirty="0"/>
              <a:t> (Keyword Stuffing).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1342</Words>
  <Application>Microsoft Office PowerPoint</Application>
  <PresentationFormat>On-screen Show (4:3)</PresentationFormat>
  <Paragraphs>85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N Loc</cp:lastModifiedBy>
  <cp:revision>3</cp:revision>
  <dcterms:created xsi:type="dcterms:W3CDTF">2013-01-27T09:14:16Z</dcterms:created>
  <dcterms:modified xsi:type="dcterms:W3CDTF">2026-07-08T12:27:29Z</dcterms:modified>
  <cp:category/>
</cp:coreProperties>
</file>